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gt7okl8jEQJnlIwSnWAwhjwhI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bold.fntdata"/><Relationship Id="rId6" Type="http://schemas.openxmlformats.org/officeDocument/2006/relationships/slide" Target="slides/slide2.xml"/><Relationship Id="rId18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3931e94ff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b3931e94ff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b3931e94ff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3931e94ff_0_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b3931e94ff_0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3931e94ff_0_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3931e94ff_0_6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3931e94ff_0_6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3931e94ff_0_6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931e94ff_0_6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b3931e94ff_0_6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3931e94ff_0_6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3931e94ff_0_6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b3931e94ff_0_6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3931e94ff_0_6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931e94ff_0_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931e94ff_0_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3931e94ff_0_6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clinicaltrials.gov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82197" y="1720230"/>
            <a:ext cx="75795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Drug Development </a:t>
            </a:r>
            <a:r>
              <a:rPr b="1" lang="en-US" sz="4500">
                <a:solidFill>
                  <a:srgbClr val="38BDF8"/>
                </a:solidFill>
              </a:rPr>
              <a:t>Process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237486" y="2558430"/>
            <a:ext cx="266895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From Discovery to Market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540550" y="3183210"/>
            <a:ext cx="4062901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Understanding Clinical Trials Enrollment Forecasting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Drug Development Timeline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10-12 years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average from discovery to FDA approval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$2.6+ billion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average total cost per drug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Only 8-10%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of drugs entering preclinical phase reach FDA approval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5 major stages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 the development pathway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3931e94ff_0_20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Five Major Stages of Development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g3b3931e94ff_0_20"/>
          <p:cNvGrpSpPr/>
          <p:nvPr/>
        </p:nvGrpSpPr>
        <p:grpSpPr>
          <a:xfrm>
            <a:off x="308838" y="1242975"/>
            <a:ext cx="3558375" cy="924600"/>
            <a:chOff x="308838" y="1242975"/>
            <a:chExt cx="3558375" cy="924600"/>
          </a:xfrm>
        </p:grpSpPr>
        <p:cxnSp>
          <p:nvCxnSpPr>
            <p:cNvPr id="33" name="Google Shape;33;g3b3931e94ff_0_20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34" name="Google Shape;34;g3b3931e94ff_0_20"/>
            <p:cNvSpPr txBox="1"/>
            <p:nvPr/>
          </p:nvSpPr>
          <p:spPr>
            <a:xfrm>
              <a:off x="30883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Discovery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140"/>
                <a:buFont typeface="Arial"/>
                <a:buNone/>
              </a:pPr>
              <a:r>
                <a:rPr lang="en-US" sz="1000">
                  <a:solidFill>
                    <a:srgbClr val="CBD5E1"/>
                  </a:solidFill>
                </a:rPr>
                <a:t>Identifying disease targets and lead compounds</a:t>
              </a:r>
              <a:endParaRPr b="1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" name="Google Shape;35;g3b3931e94ff_0_20"/>
          <p:cNvGrpSpPr/>
          <p:nvPr/>
        </p:nvGrpSpPr>
        <p:grpSpPr>
          <a:xfrm>
            <a:off x="308838" y="2646125"/>
            <a:ext cx="3263100" cy="924600"/>
            <a:chOff x="308838" y="2646125"/>
            <a:chExt cx="3263100" cy="924600"/>
          </a:xfrm>
        </p:grpSpPr>
        <p:cxnSp>
          <p:nvCxnSpPr>
            <p:cNvPr id="36" name="Google Shape;36;g3b3931e94ff_0_20"/>
            <p:cNvCxnSpPr/>
            <p:nvPr/>
          </p:nvCxnSpPr>
          <p:spPr>
            <a:xfrm rot="10800000">
              <a:off x="2641938" y="3108425"/>
              <a:ext cx="930000" cy="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37" name="Google Shape;37;g3b3931e94ff_0_20"/>
            <p:cNvSpPr txBox="1"/>
            <p:nvPr/>
          </p:nvSpPr>
          <p:spPr>
            <a:xfrm>
              <a:off x="308838" y="264612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Preclinical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140"/>
                <a:buFont typeface="Arial"/>
                <a:buNone/>
              </a:pPr>
              <a:r>
                <a:rPr lang="en-US" sz="1000">
                  <a:solidFill>
                    <a:srgbClr val="CBD5E1"/>
                  </a:solidFill>
                </a:rPr>
                <a:t>Lab and animal testing for safety and efficacy</a:t>
              </a:r>
              <a:endParaRPr b="1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" name="Google Shape;38;g3b3931e94ff_0_20"/>
          <p:cNvGrpSpPr/>
          <p:nvPr/>
        </p:nvGrpSpPr>
        <p:grpSpPr>
          <a:xfrm>
            <a:off x="4657738" y="3391700"/>
            <a:ext cx="4162750" cy="924600"/>
            <a:chOff x="4657738" y="3391700"/>
            <a:chExt cx="4162750" cy="924600"/>
          </a:xfrm>
        </p:grpSpPr>
        <p:cxnSp>
          <p:nvCxnSpPr>
            <p:cNvPr id="39" name="Google Shape;39;g3b3931e94ff_0_20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0" name="Google Shape;40;g3b3931e94ff_0_20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Clinical Trials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Testing safety and efficacy in humans (Phase I, II, III)</a:t>
              </a:r>
              <a:endParaRPr b="1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" name="Google Shape;41;g3b3931e94ff_0_20"/>
          <p:cNvGrpSpPr/>
          <p:nvPr/>
        </p:nvGrpSpPr>
        <p:grpSpPr>
          <a:xfrm>
            <a:off x="5209838" y="1242975"/>
            <a:ext cx="3610650" cy="924600"/>
            <a:chOff x="5209838" y="1242975"/>
            <a:chExt cx="3610650" cy="924600"/>
          </a:xfrm>
        </p:grpSpPr>
        <p:sp>
          <p:nvSpPr>
            <p:cNvPr id="42" name="Google Shape;42;g3b3931e94ff_0_20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Post-Market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Long-term safety monitoring (Phase IV)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" name="Google Shape;43;g3b3931e94ff_0_20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44" name="Google Shape;44;g3b3931e94ff_0_20"/>
          <p:cNvGrpSpPr/>
          <p:nvPr/>
        </p:nvGrpSpPr>
        <p:grpSpPr>
          <a:xfrm>
            <a:off x="5610288" y="2313350"/>
            <a:ext cx="3210200" cy="924600"/>
            <a:chOff x="5610288" y="2313350"/>
            <a:chExt cx="3210200" cy="924600"/>
          </a:xfrm>
        </p:grpSpPr>
        <p:cxnSp>
          <p:nvCxnSpPr>
            <p:cNvPr id="45" name="Google Shape;45;g3b3931e94ff_0_20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6" name="Google Shape;46;g3b3931e94ff_0_20"/>
            <p:cNvSpPr txBox="1"/>
            <p:nvPr/>
          </p:nvSpPr>
          <p:spPr>
            <a:xfrm>
              <a:off x="6696488" y="23133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FDA Review</a:t>
              </a:r>
              <a:endParaRPr b="1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Regulatory approval process</a:t>
              </a:r>
              <a:endParaRPr b="1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" name="Google Shape;47;g3b3931e94ff_0_20"/>
          <p:cNvGrpSpPr/>
          <p:nvPr/>
        </p:nvGrpSpPr>
        <p:grpSpPr>
          <a:xfrm>
            <a:off x="2601236" y="654951"/>
            <a:ext cx="3922200" cy="3915924"/>
            <a:chOff x="2610905" y="610653"/>
            <a:chExt cx="3922200" cy="3922200"/>
          </a:xfrm>
        </p:grpSpPr>
        <p:sp>
          <p:nvSpPr>
            <p:cNvPr id="48" name="Google Shape;48;g3b3931e94ff_0_20"/>
            <p:cNvSpPr/>
            <p:nvPr/>
          </p:nvSpPr>
          <p:spPr>
            <a:xfrm rot="-4980021">
              <a:off x="3204123" y="1186472"/>
              <a:ext cx="2771960" cy="2771960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b3931e94ff_0_20"/>
            <p:cNvSpPr/>
            <p:nvPr/>
          </p:nvSpPr>
          <p:spPr>
            <a:xfrm rot="7920309">
              <a:off x="3183402" y="1183149"/>
              <a:ext cx="2777207" cy="277720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g3b3931e94ff_0_20"/>
            <p:cNvSpPr/>
            <p:nvPr/>
          </p:nvSpPr>
          <p:spPr>
            <a:xfrm rot="3600063">
              <a:off x="3186335" y="1195681"/>
              <a:ext cx="2777488" cy="2777488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b3931e94ff_0_20"/>
            <p:cNvSpPr/>
            <p:nvPr/>
          </p:nvSpPr>
          <p:spPr>
            <a:xfrm rot="4024705">
              <a:off x="5326681" y="1940898"/>
              <a:ext cx="578477" cy="57914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B786F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g3b3931e94ff_0_20"/>
            <p:cNvSpPr/>
            <p:nvPr/>
          </p:nvSpPr>
          <p:spPr>
            <a:xfrm rot="-6816027">
              <a:off x="5326729" y="1940918"/>
              <a:ext cx="578485" cy="57903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b3931e94ff_0_20"/>
            <p:cNvSpPr/>
            <p:nvPr/>
          </p:nvSpPr>
          <p:spPr>
            <a:xfrm rot="-9359762">
              <a:off x="3193941" y="1176205"/>
              <a:ext cx="2777287" cy="277728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b3931e94ff_0_20"/>
            <p:cNvSpPr/>
            <p:nvPr/>
          </p:nvSpPr>
          <p:spPr>
            <a:xfrm rot="-8936366">
              <a:off x="3659126" y="3173505"/>
              <a:ext cx="578551" cy="578963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F887E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b3931e94ff_0_20"/>
            <p:cNvSpPr/>
            <p:nvPr/>
          </p:nvSpPr>
          <p:spPr>
            <a:xfrm rot="1824498">
              <a:off x="3659375" y="3173497"/>
              <a:ext cx="578475" cy="57888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b3931e94ff_0_20"/>
            <p:cNvSpPr/>
            <p:nvPr/>
          </p:nvSpPr>
          <p:spPr>
            <a:xfrm rot="-600092">
              <a:off x="3198852" y="1195456"/>
              <a:ext cx="2777611" cy="2777611"/>
            </a:xfrm>
            <a:prstGeom prst="blockArc">
              <a:avLst>
                <a:gd fmla="val 12513247" name="adj1"/>
                <a:gd fmla="val 16867657" name="adj2"/>
                <a:gd fmla="val 20844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g3b3931e94ff_0_20"/>
            <p:cNvSpPr/>
            <p:nvPr/>
          </p:nvSpPr>
          <p:spPr>
            <a:xfrm rot="-176551">
              <a:off x="4312105" y="1195442"/>
              <a:ext cx="578563" cy="579162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55B5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b3931e94ff_0_20"/>
            <p:cNvSpPr/>
            <p:nvPr/>
          </p:nvSpPr>
          <p:spPr>
            <a:xfrm rot="10584085">
              <a:off x="4312088" y="1195622"/>
              <a:ext cx="578340" cy="578939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b3931e94ff_0_20"/>
            <p:cNvSpPr/>
            <p:nvPr/>
          </p:nvSpPr>
          <p:spPr>
            <a:xfrm rot="8344778">
              <a:off x="4940929" y="3162886"/>
              <a:ext cx="578465" cy="578888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D7E7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g3b3931e94ff_0_20"/>
            <p:cNvSpPr/>
            <p:nvPr/>
          </p:nvSpPr>
          <p:spPr>
            <a:xfrm rot="-2495643">
              <a:off x="4941000" y="3162728"/>
              <a:ext cx="578445" cy="579093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g3b3931e94ff_0_20"/>
            <p:cNvSpPr/>
            <p:nvPr/>
          </p:nvSpPr>
          <p:spPr>
            <a:xfrm rot="-4556960">
              <a:off x="3257335" y="1939059"/>
              <a:ext cx="578302" cy="57895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249C91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b3931e94ff_0_20"/>
            <p:cNvSpPr/>
            <p:nvPr/>
          </p:nvSpPr>
          <p:spPr>
            <a:xfrm rot="6204541">
              <a:off x="3257468" y="1938977"/>
              <a:ext cx="578264" cy="578917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g3b3931e94ff_0_20"/>
            <p:cNvSpPr txBox="1"/>
            <p:nvPr/>
          </p:nvSpPr>
          <p:spPr>
            <a:xfrm>
              <a:off x="4341900" y="127189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" name="Google Shape;64;g3b3931e94ff_0_20"/>
            <p:cNvSpPr txBox="1"/>
            <p:nvPr/>
          </p:nvSpPr>
          <p:spPr>
            <a:xfrm>
              <a:off x="3274219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65;g3b3931e94ff_0_20"/>
            <p:cNvSpPr txBox="1"/>
            <p:nvPr/>
          </p:nvSpPr>
          <p:spPr>
            <a:xfrm>
              <a:off x="3685317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g3b3931e94ff_0_20"/>
            <p:cNvSpPr txBox="1"/>
            <p:nvPr/>
          </p:nvSpPr>
          <p:spPr>
            <a:xfrm>
              <a:off x="4955323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g3b3931e94ff_0_20"/>
            <p:cNvSpPr txBox="1"/>
            <p:nvPr/>
          </p:nvSpPr>
          <p:spPr>
            <a:xfrm>
              <a:off x="5364737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Clinical Trials: Three Key Phases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Phase 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Safety testing in 20-100 healthy volunteers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Phase II: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Safety and Efficacy testing in 100-500 patient volunteers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Phase III: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Large-scale pivotal trials in 1,000-5,000 patients to confirm safety and efficacy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332000" y="2721600"/>
            <a:ext cx="53424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8BDF8"/>
                </a:solidFill>
              </a:rPr>
              <a:t>A trial’s success largely depends on the recruitment of patients. </a:t>
            </a:r>
            <a:endParaRPr sz="2000"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931e94ff_0_638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Clinical Trials: </a:t>
            </a:r>
            <a:r>
              <a:rPr b="1" lang="en-US" sz="2700">
                <a:solidFill>
                  <a:srgbClr val="38BDF8"/>
                </a:solidFill>
              </a:rPr>
              <a:t>Patient Recruitment Challenges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b3931e94ff_0_638"/>
          <p:cNvSpPr/>
          <p:nvPr/>
        </p:nvSpPr>
        <p:spPr>
          <a:xfrm>
            <a:off x="914400" y="1249601"/>
            <a:ext cx="7620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Awareness &amp; Stigma</a:t>
            </a:r>
            <a:r>
              <a:rPr lang="en-US" sz="1100">
                <a:solidFill>
                  <a:srgbClr val="CBD5E1"/>
                </a:solidFill>
              </a:rPr>
              <a:t> - Limited patient awareness of trials; treatment apprehension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Strict Criteria</a:t>
            </a:r>
            <a:r>
              <a:rPr lang="en-US" sz="1100">
                <a:solidFill>
                  <a:srgbClr val="CBD5E1"/>
                </a:solidFill>
              </a:rPr>
              <a:t> - Restrictive inclusion/exclusion requirements narrow eligible pool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Site Accessibility</a:t>
            </a:r>
            <a:r>
              <a:rPr lang="en-US" sz="1100">
                <a:solidFill>
                  <a:srgbClr val="CBD5E1"/>
                </a:solidFill>
              </a:rPr>
              <a:t> - Geographic distance and frequent visit burden deter participation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Trial Competition</a:t>
            </a:r>
            <a:r>
              <a:rPr lang="en-US" sz="1100">
                <a:solidFill>
                  <a:srgbClr val="CBD5E1"/>
                </a:solidFill>
              </a:rPr>
              <a:t> - Multiple concurrent trials fragment limited patient populations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Physician Gatekeeping</a:t>
            </a:r>
            <a:r>
              <a:rPr lang="en-US" sz="1100">
                <a:solidFill>
                  <a:srgbClr val="CBD5E1"/>
                </a:solidFill>
              </a:rPr>
              <a:t> - Clinicians may not prioritize or refer eligible patients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Char char="●"/>
            </a:pPr>
            <a:r>
              <a:rPr b="1" lang="en-US" sz="1100">
                <a:solidFill>
                  <a:srgbClr val="CBD5E1"/>
                </a:solidFill>
              </a:rPr>
              <a:t>Diversity Gaps</a:t>
            </a:r>
            <a:r>
              <a:rPr lang="en-US" sz="1100">
                <a:solidFill>
                  <a:srgbClr val="CBD5E1"/>
                </a:solidFill>
              </a:rPr>
              <a:t> - Underrepresented populations face barriers (language, distrust, logistics)</a:t>
            </a:r>
            <a:br>
              <a:rPr lang="en-US" sz="1100">
                <a:solidFill>
                  <a:srgbClr val="CBD5E1"/>
                </a:solidFill>
              </a:rPr>
            </a:br>
            <a:endParaRPr sz="110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BD5E1"/>
                </a:solidFill>
              </a:rPr>
              <a:t>Impact:</a:t>
            </a:r>
            <a:r>
              <a:rPr lang="en-US" sz="1100">
                <a:solidFill>
                  <a:srgbClr val="CBD5E1"/>
                </a:solidFill>
              </a:rPr>
              <a:t> Enrollment shortfalls → trial delays, increased costs, reduced success rates</a:t>
            </a:r>
            <a:endParaRPr b="1" sz="135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3931e94ff_0_663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Clinical Trials: </a:t>
            </a:r>
            <a:r>
              <a:rPr b="1" lang="en-US" sz="2700">
                <a:solidFill>
                  <a:srgbClr val="38BDF8"/>
                </a:solidFill>
              </a:rPr>
              <a:t>Patient Recruitment Challenges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g3b3931e94ff_0_6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375" y="1514200"/>
            <a:ext cx="3333750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3931e94ff_0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00" y="1497350"/>
            <a:ext cx="3392775" cy="22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ClinicalTrials.gov: Rich Data Source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Public dataset with trial metadata and outcomes for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14400" y="1642025"/>
            <a:ext cx="3988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Trial attributes: enrollment, phases, conditions, duration, study type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Outcome data: completion status, primary outcomes met/not met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Rich features enable machine learning prediction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188" y="1363606"/>
            <a:ext cx="3234816" cy="204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3931e94ff_0_647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ClinicalTrials.gov: Rich Data Source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3931e94ff_0_647"/>
          <p:cNvSpPr/>
          <p:nvPr/>
        </p:nvSpPr>
        <p:spPr>
          <a:xfrm>
            <a:off x="609600" y="1249635"/>
            <a:ext cx="808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Public dataset with trial metadata and outcomes for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g3b3931e94ff_0_6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13" y="1718350"/>
            <a:ext cx="8898975" cy="20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Features Driving Trial Success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14400" y="1249619"/>
            <a:ext cx="7620000" cy="18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Study design (randomized, blinded, phase level)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Enrollment size and trial duration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Disease condition and patient population characteristics</a:t>
            </a:r>
            <a:endParaRPr b="0" i="0" sz="135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Char char="•"/>
            </a:pPr>
            <a:r>
              <a:rPr lang="en-US" sz="1350">
                <a:solidFill>
                  <a:srgbClr val="CBD5E1"/>
                </a:solidFill>
              </a:rPr>
              <a:t>See the list of features available in the </a:t>
            </a:r>
            <a:r>
              <a:rPr lang="en-US" sz="1350" u="sng">
                <a:solidFill>
                  <a:schemeClr val="hlink"/>
                </a:solidFill>
                <a:hlinkClick r:id="rId3"/>
              </a:rPr>
              <a:t>ClinicalTrials.</a:t>
            </a:r>
            <a:r>
              <a:rPr lang="en-US" sz="1350">
                <a:solidFill>
                  <a:srgbClr val="CBD5E1"/>
                </a:solidFill>
              </a:rPr>
              <a:t>gov </a:t>
            </a:r>
            <a:endParaRPr sz="1350">
              <a:solidFill>
                <a:srgbClr val="CBD5E1"/>
              </a:solidFill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Char char="•"/>
            </a:pPr>
            <a:r>
              <a:rPr lang="en-US" sz="1350">
                <a:solidFill>
                  <a:srgbClr val="CBD5E1"/>
                </a:solidFill>
              </a:rPr>
              <a:t>And many more…</a:t>
            </a:r>
            <a:endParaRPr sz="135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609600" y="1249635"/>
            <a:ext cx="7924800" cy="152787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09600" y="3006105"/>
            <a:ext cx="7924800" cy="152787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Two Modeling Approaches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38200" y="1478235"/>
            <a:ext cx="7616952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838200" y="1683916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Predict enrollment success/failure using median as threshold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38200" y="3234705"/>
            <a:ext cx="7616952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838200" y="3440385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Predict actual enrollment numbers and identify key drivers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2423812" y="2118345"/>
            <a:ext cx="429637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Data-Driven Trial Success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616439" y="2758380"/>
            <a:ext cx="59111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Using ClinicalTrials.gov to predict outcomes and optimize trial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3931e94ff_0_656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Prediction Challenge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b3931e94ff_0_656"/>
          <p:cNvSpPr/>
          <p:nvPr/>
        </p:nvSpPr>
        <p:spPr>
          <a:xfrm>
            <a:off x="609600" y="1249635"/>
            <a:ext cx="808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Binary Classification: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Can we predict successful enrollment?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b3931e94ff_0_656"/>
          <p:cNvSpPr/>
          <p:nvPr/>
        </p:nvSpPr>
        <p:spPr>
          <a:xfrm>
            <a:off x="914400" y="1642021"/>
            <a:ext cx="762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Success = Enrollment meets or exceeds median enrollment threshold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Failure = Enrollment falls below median (struggles to recruit)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Based on ClinicalTrials.gov historical enrollment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3931e94ff_0_677"/>
          <p:cNvSpPr txBox="1"/>
          <p:nvPr/>
        </p:nvSpPr>
        <p:spPr>
          <a:xfrm>
            <a:off x="383625" y="1847150"/>
            <a:ext cx="823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https://github.com/raheems/icasds2025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2025-12-25T08:15:29Z</dcterms:created>
  <dc:creator>Perplexity</dc:creator>
</cp:coreProperties>
</file>